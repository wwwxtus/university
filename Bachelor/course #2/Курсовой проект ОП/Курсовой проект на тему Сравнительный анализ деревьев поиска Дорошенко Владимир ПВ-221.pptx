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5" r:id="rId4"/>
    <p:sldId id="258" r:id="rId5"/>
    <p:sldId id="259" r:id="rId6"/>
    <p:sldId id="260" r:id="rId7"/>
    <p:sldId id="261" r:id="rId8"/>
    <p:sldId id="276" r:id="rId9"/>
    <p:sldId id="278" r:id="rId10"/>
    <p:sldId id="277" r:id="rId11"/>
    <p:sldId id="270" r:id="rId12"/>
    <p:sldId id="264" r:id="rId13"/>
    <p:sldId id="266" r:id="rId14"/>
    <p:sldId id="271" r:id="rId15"/>
    <p:sldId id="267" r:id="rId16"/>
    <p:sldId id="268" r:id="rId17"/>
    <p:sldId id="272" r:id="rId18"/>
    <p:sldId id="273" r:id="rId1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C681B-9B08-41AA-8D61-48759F3F1637}" type="datetimeFigureOut">
              <a:rPr lang="ru-RU" smtClean="0"/>
              <a:t>21.12.2023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6ABD6-B984-4C9B-A25B-4CA20AF7F5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382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C681B-9B08-41AA-8D61-48759F3F1637}" type="datetimeFigureOut">
              <a:rPr lang="ru-RU" smtClean="0"/>
              <a:t>21.12.2023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6ABD6-B984-4C9B-A25B-4CA20AF7F5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7023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C681B-9B08-41AA-8D61-48759F3F1637}" type="datetimeFigureOut">
              <a:rPr lang="ru-RU" smtClean="0"/>
              <a:t>21.12.2023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6ABD6-B984-4C9B-A25B-4CA20AF7F5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6183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C681B-9B08-41AA-8D61-48759F3F1637}" type="datetimeFigureOut">
              <a:rPr lang="ru-RU" smtClean="0"/>
              <a:t>21.12.2023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6ABD6-B984-4C9B-A25B-4CA20AF7F5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7253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C681B-9B08-41AA-8D61-48759F3F1637}" type="datetimeFigureOut">
              <a:rPr lang="ru-RU" smtClean="0"/>
              <a:t>21.12.2023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6ABD6-B984-4C9B-A25B-4CA20AF7F5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3958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C681B-9B08-41AA-8D61-48759F3F1637}" type="datetimeFigureOut">
              <a:rPr lang="ru-RU" smtClean="0"/>
              <a:t>21.12.2023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6ABD6-B984-4C9B-A25B-4CA20AF7F5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4418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C681B-9B08-41AA-8D61-48759F3F1637}" type="datetimeFigureOut">
              <a:rPr lang="ru-RU" smtClean="0"/>
              <a:t>21.12.2023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6ABD6-B984-4C9B-A25B-4CA20AF7F5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3016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C681B-9B08-41AA-8D61-48759F3F1637}" type="datetimeFigureOut">
              <a:rPr lang="ru-RU" smtClean="0"/>
              <a:t>21.12.2023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6ABD6-B984-4C9B-A25B-4CA20AF7F5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7581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C681B-9B08-41AA-8D61-48759F3F1637}" type="datetimeFigureOut">
              <a:rPr lang="ru-RU" smtClean="0"/>
              <a:t>21.12.2023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6ABD6-B984-4C9B-A25B-4CA20AF7F5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6504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C681B-9B08-41AA-8D61-48759F3F1637}" type="datetimeFigureOut">
              <a:rPr lang="ru-RU" smtClean="0"/>
              <a:t>21.12.2023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6ABD6-B984-4C9B-A25B-4CA20AF7F5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3507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C681B-9B08-41AA-8D61-48759F3F1637}" type="datetimeFigureOut">
              <a:rPr lang="ru-RU" smtClean="0"/>
              <a:t>21.12.2023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6ABD6-B984-4C9B-A25B-4CA20AF7F5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3295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3C681B-9B08-41AA-8D61-48759F3F1637}" type="datetimeFigureOut">
              <a:rPr lang="ru-RU" smtClean="0"/>
              <a:t>21.12.2023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6ABD6-B984-4C9B-A25B-4CA20AF7F5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1823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wwwxtus/ALL-Search-Tree-s-/tree/master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/>
        </p:nvSpPr>
        <p:spPr>
          <a:xfrm>
            <a:off x="-21773" y="2949591"/>
            <a:ext cx="12192000" cy="155871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  <a:spcBef>
                <a:spcPct val="20000"/>
              </a:spcBef>
            </a:pP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21920" y="52251"/>
            <a:ext cx="1190461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alt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«БЕЛГОРОДСКИЙ ГОСУДАРСТВЕННЫЙ </a:t>
            </a:r>
            <a:r>
              <a:rPr lang="ru-RU" alt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ТЕХНОЛОГИЧЕСКИЙ УНИВЕРСИТЕТ им. В. Г. ШУХОВА»</a:t>
            </a:r>
            <a:endParaRPr lang="ru-RU" alt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alt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(БГТУ им. В.Г. Шухова)</a:t>
            </a:r>
          </a:p>
          <a:p>
            <a:pPr algn="ctr"/>
            <a:r>
              <a:rPr lang="ru-RU" alt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Институт информационных технологий и управляющих систем</a:t>
            </a:r>
            <a:endParaRPr lang="ru-RU" alt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4956" y="1417992"/>
            <a:ext cx="3358544" cy="11449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Прямоугольник 6"/>
          <p:cNvSpPr/>
          <p:nvPr/>
        </p:nvSpPr>
        <p:spPr>
          <a:xfrm>
            <a:off x="431073" y="3291840"/>
            <a:ext cx="11286308" cy="874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  <a:spcBef>
                <a:spcPct val="20000"/>
              </a:spcBef>
            </a:pPr>
            <a:r>
              <a:rPr lang="ru-RU" alt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Курсовая работа на тему:</a:t>
            </a:r>
          </a:p>
          <a:p>
            <a:pPr algn="ctr">
              <a:lnSpc>
                <a:spcPct val="80000"/>
              </a:lnSpc>
              <a:spcBef>
                <a:spcPct val="20000"/>
              </a:spcBef>
            </a:pPr>
            <a:r>
              <a:rPr lang="ru-RU" alt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ru-RU" alt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Сравнительный анализ деревьев поиска</a:t>
            </a:r>
            <a:r>
              <a:rPr lang="ru-RU" alt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endParaRPr lang="ru-RU" sz="28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8020594" y="4894993"/>
            <a:ext cx="417140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alt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Выполнил: студент гр. ПВ-221</a:t>
            </a:r>
            <a:br>
              <a:rPr lang="ru-RU" alt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Дорошенко Владимир Юрьевич</a:t>
            </a:r>
          </a:p>
          <a:p>
            <a:pPr algn="ctr"/>
            <a:r>
              <a:rPr lang="ru-RU" alt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Руководитель: Черников С.В.</a:t>
            </a:r>
            <a:endParaRPr lang="ru-RU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5245924" y="6482313"/>
            <a:ext cx="1656607" cy="369332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none">
            <a:spAutoFit/>
          </a:bodyPr>
          <a:lstStyle/>
          <a:p>
            <a:pPr algn="ctr"/>
            <a:r>
              <a:rPr lang="ru-RU" altLang="ru-RU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Белгород 2023</a:t>
            </a:r>
            <a:endParaRPr lang="ru-RU" altLang="ru-RU" b="1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6329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Введение и цель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Деревья поиска играют важную роль в информатике, являясь фундаментальной структурой данных для организации и хранения информации. Их эффективность в поиске, добавлении и удалении элементов делает их ключевым инструментом в различных областях, от информационных систем до алгоритмов машинного обучения. </a:t>
            </a:r>
            <a:r>
              <a:rPr lang="ru-RU" sz="2400" dirty="0" smtClean="0"/>
              <a:t>Существует несколько различных типов деревьев поиска, каждое из которых имеет свои уникальные особенности, преимущества и недостатки. Цель данной работы проводится сравнительный анализ различных видов деревьев поиска с целью выявления их характеристик, эффективности и областей применения. В результате анализа будет представлена оценка каждого вида дерева поиска, а также рекомендации по выбору оптимальной структуры данных в зависимости от конкретной задачи.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28486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  <a:solidFill>
            <a:schemeClr val="accent1"/>
          </a:solidFill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type="subTitle" idx="1"/>
          </p:nvPr>
        </p:nvSpPr>
        <p:spPr>
          <a:xfrm>
            <a:off x="0" y="2532063"/>
            <a:ext cx="12192000" cy="1655762"/>
          </a:xfrm>
        </p:spPr>
        <p:txBody>
          <a:bodyPr>
            <a:normAutofit/>
          </a:bodyPr>
          <a:lstStyle/>
          <a:p>
            <a:pPr algn="ctr"/>
            <a:r>
              <a:rPr lang="ru-RU" sz="6600" b="1" dirty="0" smtClean="0"/>
              <a:t>Описание всех видов деревьев</a:t>
            </a:r>
            <a:endParaRPr lang="ru-RU" sz="6600" b="1" dirty="0"/>
          </a:p>
        </p:txBody>
      </p:sp>
    </p:spTree>
    <p:extLst>
      <p:ext uri="{BB962C8B-B14F-4D97-AF65-F5344CB8AC3E}">
        <p14:creationId xmlns:p14="http://schemas.microsoft.com/office/powerpoint/2010/main" val="387459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Бинарное и </a:t>
            </a:r>
            <a:r>
              <a:rPr lang="en-US" dirty="0" smtClean="0"/>
              <a:t>AVL </a:t>
            </a:r>
            <a:r>
              <a:rPr lang="ru-RU" dirty="0" smtClean="0"/>
              <a:t>деревья</a:t>
            </a:r>
            <a:endParaRPr lang="ru-RU" dirty="0"/>
          </a:p>
        </p:txBody>
      </p:sp>
      <p:pic>
        <p:nvPicPr>
          <p:cNvPr id="1028" name="Picture 4" descr="АВЛ-дерево (AVL-Tree) - что это: построение, балансировка, удаление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90688"/>
            <a:ext cx="10515600" cy="5190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492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Красно-чёрное дерево</a:t>
            </a:r>
            <a:endParaRPr lang="ru-RU" dirty="0"/>
          </a:p>
        </p:txBody>
      </p:sp>
      <p:pic>
        <p:nvPicPr>
          <p:cNvPr id="5" name="Picture 6" descr="Красно-чёрное дерево — Википедия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1" y="1690689"/>
            <a:ext cx="10515600" cy="5167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5447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Splay</a:t>
            </a:r>
            <a:r>
              <a:rPr lang="ru-RU" dirty="0" smtClean="0"/>
              <a:t> дерево</a:t>
            </a:r>
            <a:endParaRPr lang="ru-RU" dirty="0"/>
          </a:p>
        </p:txBody>
      </p:sp>
      <p:pic>
        <p:nvPicPr>
          <p:cNvPr id="7172" name="Picture 4" descr="Splay-дерево — Викиконспекты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90687"/>
            <a:ext cx="10515600" cy="5155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531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B</a:t>
            </a:r>
            <a:r>
              <a:rPr lang="ru-RU" dirty="0" smtClean="0"/>
              <a:t>-дерево</a:t>
            </a:r>
            <a:endParaRPr lang="ru-RU" dirty="0"/>
          </a:p>
        </p:txBody>
      </p:sp>
      <p:pic>
        <p:nvPicPr>
          <p:cNvPr id="4" name="Picture 10" descr="B-дерево — Википедия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90688"/>
            <a:ext cx="10515600" cy="5167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6714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930442"/>
            <a:ext cx="10515600" cy="760246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900" dirty="0"/>
              <a:t>Структура и характеристики тестовых данных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pic>
        <p:nvPicPr>
          <p:cNvPr id="1026" name="Picture 2" descr="Этапы создания тестов для электронного обучения - АнтиТренинги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90688"/>
            <a:ext cx="10515600" cy="5167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6729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Реализация алгоритмов деревьев и тестирование на наборе данных</a:t>
            </a:r>
            <a:endParaRPr lang="ru-RU" dirty="0"/>
          </a:p>
        </p:txBody>
      </p:sp>
      <p:pic>
        <p:nvPicPr>
          <p:cNvPr id="3074" name="Picture 2" descr="Итоги 2020 года: программное обеспечение / Программное обеспечение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188" y="1817354"/>
            <a:ext cx="9065623" cy="4396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3107969" y="6340623"/>
            <a:ext cx="59760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u="sng" dirty="0">
                <a:solidFill>
                  <a:srgbClr val="0563C1"/>
                </a:solidFill>
                <a:latin typeface="Calibri" panose="020F0502020204030204" pitchFamily="34" charset="0"/>
                <a:ea typeface="Calibri" panose="020F0502020204030204" pitchFamily="34" charset="0"/>
                <a:hlinkClick r:id="rId3"/>
              </a:rPr>
              <a:t>https://github.com/wwwxtus/ALL-Search-Tree-s-/tree/master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66114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93130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 smtClean="0"/>
              <a:t>Разработка ПО для тестирования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/>
          <a:srcRect l="1478" t="1121" r="2089" b="1398"/>
          <a:stretch/>
        </p:blipFill>
        <p:spPr>
          <a:xfrm>
            <a:off x="920353" y="693131"/>
            <a:ext cx="5180066" cy="616486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3"/>
          <a:srcRect/>
          <a:stretch/>
        </p:blipFill>
        <p:spPr>
          <a:xfrm>
            <a:off x="6096000" y="693132"/>
            <a:ext cx="5006924" cy="6164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139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  <a:solidFill>
            <a:schemeClr val="accent1"/>
          </a:solidFill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type="subTitle" idx="1"/>
          </p:nvPr>
        </p:nvSpPr>
        <p:spPr>
          <a:xfrm>
            <a:off x="0" y="2532063"/>
            <a:ext cx="12192000" cy="1655762"/>
          </a:xfrm>
        </p:spPr>
        <p:txBody>
          <a:bodyPr>
            <a:normAutofit/>
          </a:bodyPr>
          <a:lstStyle/>
          <a:p>
            <a:pPr algn="ctr"/>
            <a:r>
              <a:rPr lang="ru-RU" sz="6600" b="1" dirty="0" smtClean="0"/>
              <a:t>Неупорядоченные данные </a:t>
            </a:r>
            <a:endParaRPr lang="ru-RU" sz="6600" b="1" dirty="0"/>
          </a:p>
        </p:txBody>
      </p:sp>
    </p:spTree>
    <p:extLst>
      <p:ext uri="{BB962C8B-B14F-4D97-AF65-F5344CB8AC3E}">
        <p14:creationId xmlns:p14="http://schemas.microsoft.com/office/powerpoint/2010/main" val="373443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</p:spPr>
        <p:txBody>
          <a:bodyPr/>
          <a:lstStyle/>
          <a:p>
            <a:r>
              <a:rPr lang="ru-RU" sz="3600" dirty="0" smtClean="0"/>
              <a:t>Бинарное дерево поиска 	     </a:t>
            </a:r>
            <a:r>
              <a:rPr lang="en-US" sz="4000" dirty="0" smtClean="0"/>
              <a:t>AVL </a:t>
            </a:r>
            <a:r>
              <a:rPr lang="ru-RU" sz="4000" dirty="0" smtClean="0"/>
              <a:t>дерево</a:t>
            </a:r>
            <a:endParaRPr lang="ru-RU" sz="4000" dirty="0"/>
          </a:p>
        </p:txBody>
      </p:sp>
      <p:graphicFrame>
        <p:nvGraphicFramePr>
          <p:cNvPr id="6" name="Объект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6409023"/>
              </p:ext>
            </p:extLst>
          </p:nvPr>
        </p:nvGraphicFramePr>
        <p:xfrm>
          <a:off x="0" y="1690689"/>
          <a:ext cx="6089801" cy="516731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14046"/>
                <a:gridCol w="4175755"/>
              </a:tblGrid>
              <a:tr h="64450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Количество элементов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Результат работы программы анализа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113070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100000 </a:t>
                      </a:r>
                      <a:r>
                        <a:rPr lang="ru-RU" sz="1200" dirty="0">
                          <a:effectLst/>
                        </a:rPr>
                        <a:t>элементов </a:t>
                      </a:r>
                      <a:endParaRPr lang="ru-RU" sz="1100" dirty="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113070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1000000 </a:t>
                      </a:r>
                      <a:r>
                        <a:rPr lang="ru-RU" sz="1200">
                          <a:effectLst/>
                        </a:rPr>
                        <a:t>элементов</a:t>
                      </a:r>
                      <a:endParaRPr lang="ru-RU" sz="110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113070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10000000 </a:t>
                      </a:r>
                      <a:r>
                        <a:rPr lang="ru-RU" sz="1200">
                          <a:effectLst/>
                        </a:rPr>
                        <a:t>элементов</a:t>
                      </a:r>
                      <a:endParaRPr lang="ru-RU" sz="110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113070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100000000 </a:t>
                      </a:r>
                      <a:r>
                        <a:rPr lang="ru-RU" sz="1200" dirty="0">
                          <a:effectLst/>
                        </a:rPr>
                        <a:t>элементов </a:t>
                      </a:r>
                      <a:endParaRPr lang="ru-RU" sz="1100" dirty="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pic>
        <p:nvPicPr>
          <p:cNvPr id="4105" name="Рисунок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8793" y="2346907"/>
            <a:ext cx="2890091" cy="1099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Рисунок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78"/>
          <a:stretch>
            <a:fillRect/>
          </a:stretch>
        </p:blipFill>
        <p:spPr bwMode="auto">
          <a:xfrm>
            <a:off x="1928792" y="3438070"/>
            <a:ext cx="2890091" cy="1160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3" name="Рисунок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49"/>
          <a:stretch>
            <a:fillRect/>
          </a:stretch>
        </p:blipFill>
        <p:spPr bwMode="auto">
          <a:xfrm>
            <a:off x="1928792" y="4584345"/>
            <a:ext cx="2890091" cy="113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Рисунок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344"/>
          <a:stretch>
            <a:fillRect/>
          </a:stretch>
        </p:blipFill>
        <p:spPr bwMode="auto">
          <a:xfrm>
            <a:off x="1928790" y="5720721"/>
            <a:ext cx="2890093" cy="1124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3036888" y="3193663"/>
            <a:ext cx="67390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4492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200" b="1" i="0" u="none" strike="noStrike" cap="none" normalizeH="0" baseline="0" dirty="0" smtClean="0">
                <a:ln>
                  <a:noFill/>
                </a:ln>
                <a:solidFill>
                  <a:srgbClr val="2E74B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kumimoji="0" lang="en-US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4" name="Таблица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198431"/>
              </p:ext>
            </p:extLst>
          </p:nvPr>
        </p:nvGraphicFramePr>
        <p:xfrm>
          <a:off x="6089801" y="1690684"/>
          <a:ext cx="6102199" cy="515481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17942"/>
                <a:gridCol w="4184257"/>
              </a:tblGrid>
              <a:tr h="62754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Количество элементов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Результат работы программы анализа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15755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6000 элементов 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7351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10000 элементов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None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57774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100000</a:t>
                      </a:r>
                      <a:r>
                        <a:rPr lang="ru-RU" sz="1200" dirty="0">
                          <a:effectLst/>
                        </a:rPr>
                        <a:t> элементов </a:t>
                      </a:r>
                      <a:endParaRPr lang="ru-RU" sz="1100" dirty="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 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None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5950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1000000</a:t>
                      </a:r>
                      <a:r>
                        <a:rPr lang="ru-RU" sz="1200">
                          <a:effectLst/>
                        </a:rPr>
                        <a:t> элементов</a:t>
                      </a:r>
                      <a:endParaRPr lang="ru-RU" sz="110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 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None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0723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10000000</a:t>
                      </a:r>
                      <a:r>
                        <a:rPr lang="ru-RU" sz="1200">
                          <a:effectLst/>
                        </a:rPr>
                        <a:t> элементов</a:t>
                      </a:r>
                      <a:endParaRPr lang="ru-RU" sz="110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 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None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63665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100000000</a:t>
                      </a:r>
                      <a:r>
                        <a:rPr lang="ru-RU" sz="1200">
                          <a:effectLst/>
                        </a:rPr>
                        <a:t> элементов </a:t>
                      </a:r>
                      <a:endParaRPr lang="ru-RU" sz="110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 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None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25" name="Rectangle 15"/>
          <p:cNvSpPr>
            <a:spLocks noChangeArrowheads="1"/>
          </p:cNvSpPr>
          <p:nvPr/>
        </p:nvSpPr>
        <p:spPr bwMode="auto">
          <a:xfrm>
            <a:off x="12430467" y="-3647334"/>
            <a:ext cx="718091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200" b="1" i="0" u="none" strike="noStrike" cap="none" normalizeH="0" baseline="0" smtClean="0">
                <a:ln>
                  <a:noFill/>
                </a:ln>
                <a:solidFill>
                  <a:srgbClr val="2E74B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AVL дерево</a:t>
            </a:r>
            <a:endParaRPr kumimoji="0" lang="en-US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6" name="Рисунок 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7204" y="2346907"/>
            <a:ext cx="3324198" cy="1526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Rectangle 16"/>
          <p:cNvSpPr>
            <a:spLocks noChangeArrowheads="1"/>
          </p:cNvSpPr>
          <p:nvPr/>
        </p:nvSpPr>
        <p:spPr bwMode="auto">
          <a:xfrm>
            <a:off x="12430467" y="-3323042"/>
            <a:ext cx="7180910" cy="5186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4124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</p:spPr>
        <p:txBody>
          <a:bodyPr>
            <a:normAutofit/>
          </a:bodyPr>
          <a:lstStyle/>
          <a:p>
            <a:r>
              <a:rPr lang="en-US" sz="3600" dirty="0" smtClean="0"/>
              <a:t>Splay</a:t>
            </a:r>
            <a:r>
              <a:rPr lang="ru-RU" sz="3600" dirty="0" smtClean="0"/>
              <a:t>-дерево                                            </a:t>
            </a:r>
            <a:r>
              <a:rPr lang="en-US" sz="3600" dirty="0" smtClean="0"/>
              <a:t>B-</a:t>
            </a:r>
            <a:r>
              <a:rPr lang="ru-RU" sz="3600" dirty="0" smtClean="0"/>
              <a:t>дерево </a:t>
            </a:r>
            <a:endParaRPr lang="ru-RU" sz="3600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9464400"/>
              </p:ext>
            </p:extLst>
          </p:nvPr>
        </p:nvGraphicFramePr>
        <p:xfrm>
          <a:off x="0" y="1560927"/>
          <a:ext cx="6606540" cy="531551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76459"/>
                <a:gridCol w="4530081"/>
              </a:tblGrid>
              <a:tr h="52844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Количество элементов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Результат работы программы анализа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106477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10000 элементов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99279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100000</a:t>
                      </a:r>
                      <a:r>
                        <a:rPr lang="ru-RU" sz="1200">
                          <a:effectLst/>
                        </a:rPr>
                        <a:t> элементов </a:t>
                      </a:r>
                      <a:endParaRPr lang="ru-RU" sz="110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 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118796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1000000</a:t>
                      </a:r>
                      <a:r>
                        <a:rPr lang="ru-RU" sz="1200">
                          <a:effectLst/>
                        </a:rPr>
                        <a:t> элементов</a:t>
                      </a:r>
                      <a:endParaRPr lang="ru-RU" sz="110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 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11501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10000000</a:t>
                      </a:r>
                      <a:r>
                        <a:rPr lang="ru-RU" sz="1200">
                          <a:effectLst/>
                        </a:rPr>
                        <a:t> элементов</a:t>
                      </a:r>
                      <a:endParaRPr lang="ru-RU" sz="110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 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7297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100000000</a:t>
                      </a:r>
                      <a:r>
                        <a:rPr lang="ru-RU" sz="1200" dirty="0">
                          <a:effectLst/>
                        </a:rPr>
                        <a:t> элементов </a:t>
                      </a:r>
                      <a:endParaRPr lang="ru-RU" sz="1100" dirty="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 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None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7296074"/>
              </p:ext>
            </p:extLst>
          </p:nvPr>
        </p:nvGraphicFramePr>
        <p:xfrm>
          <a:off x="6606540" y="1682428"/>
          <a:ext cx="5585461" cy="516312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55529"/>
                <a:gridCol w="3829932"/>
              </a:tblGrid>
              <a:tr h="63998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Количество элементов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Результат работы программы анализа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130922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10000 элементов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131327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100000</a:t>
                      </a:r>
                      <a:r>
                        <a:rPr lang="ru-RU" sz="1200" dirty="0">
                          <a:effectLst/>
                        </a:rPr>
                        <a:t> элементов </a:t>
                      </a:r>
                      <a:endParaRPr lang="ru-RU" sz="1100" dirty="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 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65445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1000000</a:t>
                      </a:r>
                      <a:r>
                        <a:rPr lang="ru-RU" sz="1200">
                          <a:effectLst/>
                        </a:rPr>
                        <a:t> элементов</a:t>
                      </a:r>
                      <a:endParaRPr lang="ru-RU" sz="110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 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None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5360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10000000</a:t>
                      </a:r>
                      <a:r>
                        <a:rPr lang="ru-RU" sz="1200">
                          <a:effectLst/>
                        </a:rPr>
                        <a:t> элементов</a:t>
                      </a:r>
                      <a:endParaRPr lang="ru-RU" sz="110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 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None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79258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100000000</a:t>
                      </a:r>
                      <a:r>
                        <a:rPr lang="ru-RU" sz="1200" dirty="0">
                          <a:effectLst/>
                        </a:rPr>
                        <a:t> элементов 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None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pic>
        <p:nvPicPr>
          <p:cNvPr id="5126" name="Рисунок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17" r="2112"/>
          <a:stretch>
            <a:fillRect/>
          </a:stretch>
        </p:blipFill>
        <p:spPr bwMode="auto">
          <a:xfrm>
            <a:off x="2094090" y="2085613"/>
            <a:ext cx="2736698" cy="1025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5" name="Рисунок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54"/>
          <a:stretch>
            <a:fillRect/>
          </a:stretch>
        </p:blipFill>
        <p:spPr bwMode="auto">
          <a:xfrm>
            <a:off x="2094090" y="3139936"/>
            <a:ext cx="2759044" cy="1060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Рисунок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4090" y="4200496"/>
            <a:ext cx="2759044" cy="1151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3" name="Рисунок 1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96"/>
          <a:stretch>
            <a:fillRect/>
          </a:stretch>
        </p:blipFill>
        <p:spPr bwMode="auto">
          <a:xfrm>
            <a:off x="2094090" y="5352395"/>
            <a:ext cx="2759044" cy="1164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Рисунок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7343" y="2329516"/>
            <a:ext cx="3363420" cy="1285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1" name="Рисунок 1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7640" y="3615389"/>
            <a:ext cx="3363123" cy="1327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1744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  <a:solidFill>
            <a:schemeClr val="accent1"/>
          </a:solidFill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type="subTitle" idx="1"/>
          </p:nvPr>
        </p:nvSpPr>
        <p:spPr>
          <a:xfrm>
            <a:off x="0" y="2532063"/>
            <a:ext cx="12192000" cy="1655762"/>
          </a:xfrm>
        </p:spPr>
        <p:txBody>
          <a:bodyPr>
            <a:normAutofit/>
          </a:bodyPr>
          <a:lstStyle/>
          <a:p>
            <a:pPr algn="ctr"/>
            <a:r>
              <a:rPr lang="ru-RU" sz="6600" b="1" dirty="0"/>
              <a:t>У</a:t>
            </a:r>
            <a:r>
              <a:rPr lang="ru-RU" sz="6600" b="1" dirty="0" smtClean="0"/>
              <a:t>порядоченные данные </a:t>
            </a:r>
            <a:endParaRPr lang="ru-RU" sz="6600" b="1" dirty="0"/>
          </a:p>
        </p:txBody>
      </p:sp>
    </p:spTree>
    <p:extLst>
      <p:ext uri="{BB962C8B-B14F-4D97-AF65-F5344CB8AC3E}">
        <p14:creationId xmlns:p14="http://schemas.microsoft.com/office/powerpoint/2010/main" val="1644865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5762" y="365125"/>
            <a:ext cx="11002169" cy="1325563"/>
          </a:xfrm>
        </p:spPr>
        <p:txBody>
          <a:bodyPr>
            <a:normAutofit/>
          </a:bodyPr>
          <a:lstStyle/>
          <a:p>
            <a:r>
              <a:rPr lang="ru-RU" sz="3600" dirty="0" smtClean="0"/>
              <a:t>Бинарное дерево 		</a:t>
            </a:r>
            <a:r>
              <a:rPr lang="ru-RU" sz="3600" dirty="0"/>
              <a:t> </a:t>
            </a:r>
            <a:r>
              <a:rPr lang="ru-RU" sz="3600" dirty="0" smtClean="0"/>
              <a:t>          </a:t>
            </a:r>
            <a:r>
              <a:rPr lang="en-US" sz="3600" dirty="0" smtClean="0"/>
              <a:t>AVL</a:t>
            </a:r>
            <a:r>
              <a:rPr lang="ru-RU" sz="3600" dirty="0" smtClean="0"/>
              <a:t>-дерево</a:t>
            </a:r>
            <a:endParaRPr lang="ru-RU" sz="3600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4182" b="1876"/>
          <a:stretch/>
        </p:blipFill>
        <p:spPr>
          <a:xfrm>
            <a:off x="6092954" y="1690688"/>
            <a:ext cx="4689659" cy="5167311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3"/>
          <a:srcRect t="3018"/>
          <a:stretch/>
        </p:blipFill>
        <p:spPr>
          <a:xfrm>
            <a:off x="495762" y="1690689"/>
            <a:ext cx="4693919" cy="5167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606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</p:spPr>
        <p:txBody>
          <a:bodyPr>
            <a:normAutofit/>
          </a:bodyPr>
          <a:lstStyle/>
          <a:p>
            <a:r>
              <a:rPr lang="en-US" sz="3600" dirty="0" smtClean="0"/>
              <a:t>Splay</a:t>
            </a:r>
            <a:r>
              <a:rPr lang="ru-RU" sz="3600" dirty="0" smtClean="0"/>
              <a:t>-дерево                                   В-дерево</a:t>
            </a:r>
            <a:endParaRPr lang="ru-RU" sz="3600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270" r="504" b="1878"/>
          <a:stretch/>
        </p:blipFill>
        <p:spPr>
          <a:xfrm>
            <a:off x="0" y="2811303"/>
            <a:ext cx="5477692" cy="4046697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3"/>
          <a:srcRect t="715" b="1693"/>
          <a:stretch/>
        </p:blipFill>
        <p:spPr>
          <a:xfrm>
            <a:off x="6096000" y="2811302"/>
            <a:ext cx="5477691" cy="4046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878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Анализ результатов и вывод</a:t>
            </a:r>
            <a:endParaRPr lang="ru-RU" dirty="0"/>
          </a:p>
        </p:txBody>
      </p:sp>
      <p:pic>
        <p:nvPicPr>
          <p:cNvPr id="6146" name="Picture 2" descr="Кейс. Вывод на рынок нового IT-продукта на основе изучения поискового  спроса / Хабр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25625"/>
            <a:ext cx="10515600" cy="5032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4389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435225"/>
            <a:ext cx="12192000" cy="1325563"/>
          </a:xfrm>
        </p:spPr>
        <p:txBody>
          <a:bodyPr/>
          <a:lstStyle/>
          <a:p>
            <a:pPr algn="ctr"/>
            <a:r>
              <a:rPr lang="ru-RU" dirty="0" smtClean="0"/>
              <a:t>Спасибо за внимание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47711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</TotalTime>
  <Words>292</Words>
  <Application>Microsoft Office PowerPoint</Application>
  <PresentationFormat>Широкоэкранный</PresentationFormat>
  <Paragraphs>81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Введение и цель </vt:lpstr>
      <vt:lpstr>Презентация PowerPoint</vt:lpstr>
      <vt:lpstr>Бинарное и AVL деревья</vt:lpstr>
      <vt:lpstr>Красно-чёрное дерево</vt:lpstr>
      <vt:lpstr>Splay дерево</vt:lpstr>
      <vt:lpstr>B-дерево</vt:lpstr>
      <vt:lpstr>Структура и характеристики тестовых данных </vt:lpstr>
      <vt:lpstr>Реализация алгоритмов деревьев и тестирование на наборе данных</vt:lpstr>
      <vt:lpstr>Разработка ПО для тестирования</vt:lpstr>
      <vt:lpstr>Презентация PowerPoint</vt:lpstr>
      <vt:lpstr>Бинарное дерево поиска       AVL дерево</vt:lpstr>
      <vt:lpstr>Splay-дерево                                            B-дерево </vt:lpstr>
      <vt:lpstr>Презентация PowerPoint</vt:lpstr>
      <vt:lpstr>Бинарное дерево              AVL-дерево</vt:lpstr>
      <vt:lpstr>Splay-дерево                                   В-дерево</vt:lpstr>
      <vt:lpstr>Анализ результатов и вывод</vt:lpstr>
      <vt:lpstr>Спасибо за внимание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Учетная запись Майкрософт</dc:creator>
  <cp:lastModifiedBy>Учетная запись Майкрософт</cp:lastModifiedBy>
  <cp:revision>17</cp:revision>
  <dcterms:created xsi:type="dcterms:W3CDTF">2023-12-19T14:57:19Z</dcterms:created>
  <dcterms:modified xsi:type="dcterms:W3CDTF">2023-12-20T21:58:51Z</dcterms:modified>
</cp:coreProperties>
</file>