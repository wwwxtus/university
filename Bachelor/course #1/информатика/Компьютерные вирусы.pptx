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07BF9D0-5D62-4E7F-986B-BB6529AEEA53}" type="datetimeFigureOut">
              <a:rPr lang="ru-RU" smtClean="0"/>
              <a:t>21.12.2022</a:t>
            </a:fld>
            <a:endParaRPr lang="ru-RU"/>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ru-RU"/>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52A36FF-8BE3-4205-87BB-C4FB247F1EDE}" type="slidenum">
              <a:rPr lang="ru-RU" smtClean="0"/>
              <a:t>‹#›</a:t>
            </a:fld>
            <a:endParaRPr lang="ru-R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206745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207BF9D0-5D62-4E7F-986B-BB6529AEEA53}" type="datetimeFigureOut">
              <a:rPr lang="ru-RU" smtClean="0"/>
              <a:t>21.12.2022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81520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ru-RU" smtClean="0"/>
              <a:t>Образец заголовка</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207BF9D0-5D62-4E7F-986B-BB6529AEEA53}" type="datetimeFigureOut">
              <a:rPr lang="ru-RU" smtClean="0"/>
              <a:t>21.12.2022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52A36FF-8BE3-4205-87BB-C4FB247F1EDE}" type="slidenum">
              <a:rPr lang="ru-RU" smtClean="0"/>
              <a:t>‹#›</a:t>
            </a:fld>
            <a:endParaRPr lang="ru-R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91723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207BF9D0-5D62-4E7F-986B-BB6529AEEA53}" type="datetimeFigureOut">
              <a:rPr lang="ru-RU" smtClean="0"/>
              <a:t>21.12.2022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95926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ru-RU" smtClean="0"/>
              <a:t>Образец текста</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207BF9D0-5D62-4E7F-986B-BB6529AEEA53}" type="datetimeFigureOut">
              <a:rPr lang="ru-RU" smtClean="0"/>
              <a:t>21.12.2022</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40157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207BF9D0-5D62-4E7F-986B-BB6529AEEA53}" type="datetimeFigureOut">
              <a:rPr lang="ru-RU" smtClean="0"/>
              <a:t>21.12.2022</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3626101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7BF9D0-5D62-4E7F-986B-BB6529AEEA53}" type="datetimeFigureOut">
              <a:rPr lang="ru-RU" smtClean="0"/>
              <a:t>21.12.2022</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965974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ru-RU" smtClean="0"/>
              <a:t>Образец заголовка</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207BF9D0-5D62-4E7F-986B-BB6529AEEA53}" type="datetimeFigureOut">
              <a:rPr lang="ru-RU" smtClean="0"/>
              <a:t>21.12.2022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2649022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207BF9D0-5D62-4E7F-986B-BB6529AEEA53}" type="datetimeFigureOut">
              <a:rPr lang="ru-RU" smtClean="0"/>
              <a:t>21.12.2022</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4230623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207BF9D0-5D62-4E7F-986B-BB6529AEEA53}" type="datetimeFigureOut">
              <a:rPr lang="ru-RU" smtClean="0"/>
              <a:t>21.12.2022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3741348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207BF9D0-5D62-4E7F-986B-BB6529AEEA53}" type="datetimeFigureOut">
              <a:rPr lang="ru-RU" smtClean="0"/>
              <a:t>21.12.2022</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52A36FF-8BE3-4205-87BB-C4FB247F1EDE}" type="slidenum">
              <a:rPr lang="ru-RU" smtClean="0"/>
              <a:t>‹#›</a:t>
            </a:fld>
            <a:endParaRPr lang="ru-RU"/>
          </a:p>
        </p:txBody>
      </p:sp>
    </p:spTree>
    <p:extLst>
      <p:ext uri="{BB962C8B-B14F-4D97-AF65-F5344CB8AC3E}">
        <p14:creationId xmlns:p14="http://schemas.microsoft.com/office/powerpoint/2010/main" val="4285941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07BF9D0-5D62-4E7F-986B-BB6529AEEA53}" type="datetimeFigureOut">
              <a:rPr lang="ru-RU" smtClean="0"/>
              <a:t>21.12.2022</a:t>
            </a:fld>
            <a:endParaRPr lang="ru-RU"/>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ru-RU"/>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52A36FF-8BE3-4205-87BB-C4FB247F1EDE}" type="slidenum">
              <a:rPr lang="ru-RU" smtClean="0"/>
              <a:t>‹#›</a:t>
            </a:fld>
            <a:endParaRPr lang="ru-RU"/>
          </a:p>
        </p:txBody>
      </p:sp>
    </p:spTree>
    <p:extLst>
      <p:ext uri="{BB962C8B-B14F-4D97-AF65-F5344CB8AC3E}">
        <p14:creationId xmlns:p14="http://schemas.microsoft.com/office/powerpoint/2010/main" val="423896649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sz="3200" dirty="0"/>
              <a:t>Компьютерные вирусы: методы защиты</a:t>
            </a:r>
            <a:br>
              <a:rPr lang="ru-RU" sz="3200" dirty="0"/>
            </a:br>
            <a:endParaRPr lang="ru-RU" sz="3200" dirty="0"/>
          </a:p>
        </p:txBody>
      </p:sp>
      <p:sp>
        <p:nvSpPr>
          <p:cNvPr id="3" name="Подзаголовок 2"/>
          <p:cNvSpPr>
            <a:spLocks noGrp="1"/>
          </p:cNvSpPr>
          <p:nvPr>
            <p:ph type="subTitle" idx="1"/>
          </p:nvPr>
        </p:nvSpPr>
        <p:spPr/>
        <p:txBody>
          <a:bodyPr/>
          <a:lstStyle/>
          <a:p>
            <a:r>
              <a:rPr lang="ru-RU" dirty="0" smtClean="0"/>
              <a:t>Подготовил Дорошенко Владимир</a:t>
            </a:r>
          </a:p>
          <a:p>
            <a:r>
              <a:rPr lang="ru-RU" dirty="0" smtClean="0"/>
              <a:t>ПВ-221 </a:t>
            </a:r>
            <a:endParaRPr lang="ru-RU" dirty="0"/>
          </a:p>
        </p:txBody>
      </p:sp>
      <p:pic>
        <p:nvPicPr>
          <p:cNvPr id="4" name="Picture 3" descr="D:\Мои док\Черемуха\091103102246-large.jpg"/>
          <p:cNvPicPr>
            <a:picLocks noChangeAspect="1" noChangeArrowheads="1"/>
          </p:cNvPicPr>
          <p:nvPr/>
        </p:nvPicPr>
        <p:blipFill>
          <a:blip r:embed="rId2" cstate="screen"/>
          <a:srcRect/>
          <a:stretch>
            <a:fillRect/>
          </a:stretch>
        </p:blipFill>
        <p:spPr bwMode="auto">
          <a:xfrm>
            <a:off x="6202246" y="4800600"/>
            <a:ext cx="2786082" cy="1857388"/>
          </a:xfrm>
          <a:prstGeom prst="rect">
            <a:avLst/>
          </a:prstGeom>
          <a:ln>
            <a:noFill/>
          </a:ln>
          <a:effectLst>
            <a:softEdge rad="112500"/>
          </a:effectLst>
        </p:spPr>
      </p:pic>
    </p:spTree>
    <p:extLst>
      <p:ext uri="{BB962C8B-B14F-4D97-AF65-F5344CB8AC3E}">
        <p14:creationId xmlns:p14="http://schemas.microsoft.com/office/powerpoint/2010/main" val="1456012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t>Что такое компьютерный вирус</a:t>
            </a:r>
            <a:endParaRPr lang="ru-RU" sz="3200" dirty="0"/>
          </a:p>
        </p:txBody>
      </p:sp>
      <p:sp>
        <p:nvSpPr>
          <p:cNvPr id="3" name="Объект 2"/>
          <p:cNvSpPr>
            <a:spLocks noGrp="1"/>
          </p:cNvSpPr>
          <p:nvPr>
            <p:ph idx="1"/>
          </p:nvPr>
        </p:nvSpPr>
        <p:spPr/>
        <p:txBody>
          <a:bodyPr/>
          <a:lstStyle/>
          <a:p>
            <a:r>
              <a:rPr lang="ru-RU" sz="2400" b="1" dirty="0">
                <a:latin typeface="Times New Roman" pitchFamily="18" charset="0"/>
                <a:cs typeface="Times New Roman" pitchFamily="18" charset="0"/>
              </a:rPr>
              <a:t>Компьютерный вирус - </a:t>
            </a:r>
            <a:r>
              <a:rPr lang="ru-RU" sz="2400" dirty="0">
                <a:latin typeface="Times New Roman" pitchFamily="18" charset="0"/>
                <a:cs typeface="Times New Roman" pitchFamily="18" charset="0"/>
              </a:rPr>
              <a:t>это специально написанная небольшая программа, которая может приписывать себя к другим программам (то есть заражать их), а также выполнять различные вредные действия на компьютере.</a:t>
            </a:r>
          </a:p>
          <a:p>
            <a:endParaRPr lang="ru-RU" dirty="0"/>
          </a:p>
        </p:txBody>
      </p:sp>
      <p:pic>
        <p:nvPicPr>
          <p:cNvPr id="4" name="Picture 4" descr="D:\Мои док\Черемуха\7065607-virus-alert-in-web-browser-address-bar-with-cursor-hovering-over-warning.jpg"/>
          <p:cNvPicPr>
            <a:picLocks noChangeAspect="1" noChangeArrowheads="1"/>
          </p:cNvPicPr>
          <p:nvPr/>
        </p:nvPicPr>
        <p:blipFill>
          <a:blip r:embed="rId2" cstate="screen"/>
          <a:srcRect/>
          <a:stretch>
            <a:fillRect/>
          </a:stretch>
        </p:blipFill>
        <p:spPr bwMode="auto">
          <a:xfrm>
            <a:off x="1261872" y="3507202"/>
            <a:ext cx="2643206" cy="1857388"/>
          </a:xfrm>
          <a:prstGeom prst="rect">
            <a:avLst/>
          </a:prstGeom>
          <a:ln>
            <a:noFill/>
          </a:ln>
          <a:effectLst>
            <a:softEdge rad="112500"/>
          </a:effectLst>
        </p:spPr>
      </p:pic>
    </p:spTree>
    <p:extLst>
      <p:ext uri="{BB962C8B-B14F-4D97-AF65-F5344CB8AC3E}">
        <p14:creationId xmlns:p14="http://schemas.microsoft.com/office/powerpoint/2010/main" val="1828115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spc="50" dirty="0">
                <a:ln w="11430"/>
                <a:effectLst>
                  <a:outerShdw blurRad="76200" dist="50800" dir="5400000" algn="tl" rotWithShape="0">
                    <a:srgbClr val="000000">
                      <a:alpha val="65000"/>
                    </a:srgbClr>
                  </a:outerShdw>
                </a:effectLst>
                <a:latin typeface="Times New Roman" pitchFamily="18" charset="0"/>
                <a:cs typeface="Times New Roman" pitchFamily="18" charset="0"/>
              </a:rPr>
              <a:t>Компьютерные вирусы бывают следующих </a:t>
            </a:r>
            <a:r>
              <a:rPr lang="ru-RU" sz="3200" b="1" spc="50" dirty="0" smtClean="0">
                <a:ln w="11430"/>
                <a:effectLst>
                  <a:outerShdw blurRad="76200" dist="50800" dir="5400000" algn="tl" rotWithShape="0">
                    <a:srgbClr val="000000">
                      <a:alpha val="65000"/>
                    </a:srgbClr>
                  </a:outerShdw>
                </a:effectLst>
                <a:latin typeface="Times New Roman" pitchFamily="18" charset="0"/>
                <a:cs typeface="Times New Roman" pitchFamily="18" charset="0"/>
              </a:rPr>
              <a:t>типов</a:t>
            </a:r>
            <a:endParaRPr lang="ru-RU" sz="3200" dirty="0"/>
          </a:p>
        </p:txBody>
      </p:sp>
      <p:sp>
        <p:nvSpPr>
          <p:cNvPr id="3" name="Объект 2"/>
          <p:cNvSpPr>
            <a:spLocks noGrp="1"/>
          </p:cNvSpPr>
          <p:nvPr>
            <p:ph idx="1"/>
          </p:nvPr>
        </p:nvSpPr>
        <p:spPr/>
        <p:txBody>
          <a:bodyPr/>
          <a:lstStyle/>
          <a:p>
            <a:pPr marL="514350" lvl="0" indent="-514350">
              <a:buFont typeface="+mj-lt"/>
              <a:buAutoNum type="arabicPeriod"/>
            </a:pPr>
            <a:r>
              <a:rPr lang="ru-RU" sz="2400" dirty="0">
                <a:latin typeface="Times New Roman" pitchFamily="18" charset="0"/>
                <a:cs typeface="Times New Roman" pitchFamily="18" charset="0"/>
              </a:rPr>
              <a:t>Файловые вирусы.</a:t>
            </a:r>
          </a:p>
          <a:p>
            <a:pPr marL="514350" lvl="0" indent="-514350">
              <a:buFont typeface="+mj-lt"/>
              <a:buAutoNum type="arabicPeriod"/>
            </a:pPr>
            <a:r>
              <a:rPr lang="ru-RU" sz="2400" dirty="0">
                <a:latin typeface="Times New Roman" pitchFamily="18" charset="0"/>
                <a:cs typeface="Times New Roman" pitchFamily="18" charset="0"/>
              </a:rPr>
              <a:t>Загрузочные вирусы. </a:t>
            </a:r>
          </a:p>
          <a:p>
            <a:pPr marL="514350" lvl="0" indent="-514350">
              <a:buFont typeface="+mj-lt"/>
              <a:buAutoNum type="arabicPeriod"/>
            </a:pPr>
            <a:r>
              <a:rPr lang="ru-RU" sz="2400" dirty="0">
                <a:latin typeface="Times New Roman" pitchFamily="18" charset="0"/>
                <a:cs typeface="Times New Roman" pitchFamily="18" charset="0"/>
              </a:rPr>
              <a:t>Вирусы, поражающие драйверы.</a:t>
            </a:r>
          </a:p>
          <a:p>
            <a:pPr marL="514350" lvl="0" indent="-514350">
              <a:buFont typeface="+mj-lt"/>
              <a:buAutoNum type="arabicPeriod"/>
            </a:pPr>
            <a:r>
              <a:rPr lang="ru-RU" sz="2400" dirty="0">
                <a:latin typeface="Times New Roman" pitchFamily="18" charset="0"/>
                <a:cs typeface="Times New Roman" pitchFamily="18" charset="0"/>
              </a:rPr>
              <a:t>Невидимые или </a:t>
            </a:r>
            <a:r>
              <a:rPr lang="ru-RU" sz="2400" dirty="0" err="1">
                <a:latin typeface="Times New Roman" pitchFamily="18" charset="0"/>
                <a:cs typeface="Times New Roman" pitchFamily="18" charset="0"/>
              </a:rPr>
              <a:t>стелс</a:t>
            </a:r>
            <a:r>
              <a:rPr lang="ru-RU" sz="2400" dirty="0">
                <a:latin typeface="Times New Roman" pitchFamily="18" charset="0"/>
                <a:cs typeface="Times New Roman" pitchFamily="18" charset="0"/>
              </a:rPr>
              <a:t>-вирусы</a:t>
            </a:r>
          </a:p>
          <a:p>
            <a:pPr marL="514350" lvl="0" indent="-514350">
              <a:buFont typeface="+mj-lt"/>
              <a:buAutoNum type="arabicPeriod"/>
            </a:pPr>
            <a:r>
              <a:rPr lang="ru-RU" sz="2400" dirty="0">
                <a:latin typeface="Times New Roman" pitchFamily="18" charset="0"/>
                <a:cs typeface="Times New Roman" pitchFamily="18" charset="0"/>
              </a:rPr>
              <a:t>Самомодифицирующиеся вирусы</a:t>
            </a:r>
          </a:p>
          <a:p>
            <a:pPr marL="514350" lvl="0" indent="-514350">
              <a:buFont typeface="+mj-lt"/>
              <a:buAutoNum type="arabicPeriod"/>
            </a:pPr>
            <a:r>
              <a:rPr lang="ru-RU" sz="2400" dirty="0">
                <a:latin typeface="Times New Roman" pitchFamily="18" charset="0"/>
                <a:cs typeface="Times New Roman" pitchFamily="18" charset="0"/>
              </a:rPr>
              <a:t>Сетевые вирусы.</a:t>
            </a:r>
          </a:p>
          <a:p>
            <a:endParaRPr lang="ru-RU" dirty="0"/>
          </a:p>
        </p:txBody>
      </p:sp>
    </p:spTree>
    <p:extLst>
      <p:ext uri="{BB962C8B-B14F-4D97-AF65-F5344CB8AC3E}">
        <p14:creationId xmlns:p14="http://schemas.microsoft.com/office/powerpoint/2010/main" val="3807064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t>Основная информация</a:t>
            </a:r>
            <a:endParaRPr lang="ru-RU" sz="3200" dirty="0"/>
          </a:p>
        </p:txBody>
      </p:sp>
      <p:sp>
        <p:nvSpPr>
          <p:cNvPr id="3" name="Объект 2"/>
          <p:cNvSpPr>
            <a:spLocks noGrp="1"/>
          </p:cNvSpPr>
          <p:nvPr>
            <p:ph idx="1"/>
          </p:nvPr>
        </p:nvSpPr>
        <p:spPr/>
        <p:txBody>
          <a:bodyPr>
            <a:normAutofit fontScale="92500"/>
          </a:bodyPr>
          <a:lstStyle/>
          <a:p>
            <a:pPr marL="179388" indent="360363">
              <a:buNone/>
            </a:pPr>
            <a:r>
              <a:rPr lang="ru-RU" sz="2400" dirty="0">
                <a:latin typeface="Times New Roman" pitchFamily="18" charset="0"/>
                <a:cs typeface="Times New Roman" pitchFamily="18" charset="0"/>
              </a:rPr>
              <a:t>Зараженными также оказываются носители информации с </a:t>
            </a:r>
            <a:r>
              <a:rPr lang="ru-RU" sz="2400" dirty="0" err="1">
                <a:latin typeface="Times New Roman" pitchFamily="18" charset="0"/>
                <a:cs typeface="Times New Roman" pitchFamily="18" charset="0"/>
              </a:rPr>
              <a:t>завирусованного</a:t>
            </a:r>
            <a:r>
              <a:rPr lang="ru-RU" sz="2400" dirty="0">
                <a:latin typeface="Times New Roman" pitchFamily="18" charset="0"/>
                <a:cs typeface="Times New Roman" pitchFamily="18" charset="0"/>
              </a:rPr>
              <a:t> компьютера, и компьютеры, связанные с ним по сети.</a:t>
            </a:r>
          </a:p>
          <a:p>
            <a:pPr marL="179388" indent="360363">
              <a:buNone/>
            </a:pPr>
            <a:r>
              <a:rPr lang="ru-RU" sz="2400" dirty="0">
                <a:latin typeface="Times New Roman" pitchFamily="18" charset="0"/>
                <a:cs typeface="Times New Roman" pitchFamily="18" charset="0"/>
              </a:rPr>
              <a:t>Вирусы поражают прежде всего </a:t>
            </a:r>
            <a:r>
              <a:rPr lang="ru-RU" sz="2400" dirty="0" err="1">
                <a:latin typeface="Times New Roman" pitchFamily="18" charset="0"/>
                <a:cs typeface="Times New Roman" pitchFamily="18" charset="0"/>
              </a:rPr>
              <a:t>exe</a:t>
            </a:r>
            <a:r>
              <a:rPr lang="ru-RU" sz="2400" dirty="0">
                <a:latin typeface="Times New Roman" pitchFamily="18" charset="0"/>
                <a:cs typeface="Times New Roman" pitchFamily="18" charset="0"/>
              </a:rPr>
              <a:t> и </a:t>
            </a:r>
            <a:r>
              <a:rPr lang="ru-RU" sz="2400" dirty="0" err="1">
                <a:latin typeface="Times New Roman" pitchFamily="18" charset="0"/>
                <a:cs typeface="Times New Roman" pitchFamily="18" charset="0"/>
              </a:rPr>
              <a:t>com</a:t>
            </a:r>
            <a:r>
              <a:rPr lang="ru-RU" sz="2400" dirty="0">
                <a:latin typeface="Times New Roman" pitchFamily="18" charset="0"/>
                <a:cs typeface="Times New Roman" pitchFamily="18" charset="0"/>
              </a:rPr>
              <a:t> файлы программ и не поражают текстовые файлы DOS (</a:t>
            </a:r>
            <a:r>
              <a:rPr lang="ru-RU" sz="2400" dirty="0" err="1">
                <a:latin typeface="Times New Roman" pitchFamily="18" charset="0"/>
                <a:cs typeface="Times New Roman" pitchFamily="18" charset="0"/>
              </a:rPr>
              <a:t>txt</a:t>
            </a:r>
            <a:r>
              <a:rPr lang="ru-RU" sz="2400" dirty="0">
                <a:latin typeface="Times New Roman" pitchFamily="18" charset="0"/>
                <a:cs typeface="Times New Roman" pitchFamily="18" charset="0"/>
              </a:rPr>
              <a:t> файлы).</a:t>
            </a:r>
          </a:p>
          <a:p>
            <a:pPr marL="0" indent="360363">
              <a:buNone/>
            </a:pPr>
            <a:r>
              <a:rPr lang="ru-RU" sz="2400" dirty="0">
                <a:latin typeface="Times New Roman" pitchFamily="18" charset="0"/>
                <a:cs typeface="Times New Roman" pitchFamily="18" charset="0"/>
              </a:rPr>
              <a:t>Один из самых опасных из всех известных вирусов из Интернета - вирус "Чернобыль". Вирус активизируется 26 апреля, но модификации вируса могут принести вред и 26 числа каждого месяца.</a:t>
            </a:r>
            <a:endParaRPr lang="en-US" sz="2400" dirty="0">
              <a:latin typeface="Times New Roman" pitchFamily="18" charset="0"/>
              <a:cs typeface="Times New Roman" pitchFamily="18" charset="0"/>
            </a:endParaRPr>
          </a:p>
          <a:p>
            <a:pPr marL="0" indent="360363">
              <a:buNone/>
            </a:pPr>
            <a:r>
              <a:rPr lang="ru-RU" sz="2400" dirty="0">
                <a:latin typeface="Times New Roman" pitchFamily="18" charset="0"/>
                <a:cs typeface="Times New Roman" pitchFamily="18" charset="0"/>
              </a:rPr>
              <a:t>Кроме порчи информации на диске, он перепрограммирует BIOS (CMOS </a:t>
            </a:r>
            <a:r>
              <a:rPr lang="ru-RU" sz="2400" dirty="0" err="1">
                <a:latin typeface="Times New Roman" pitchFamily="18" charset="0"/>
                <a:cs typeface="Times New Roman" pitchFamily="18" charset="0"/>
              </a:rPr>
              <a:t>Setup</a:t>
            </a:r>
            <a:r>
              <a:rPr lang="ru-RU" sz="2400" dirty="0">
                <a:latin typeface="Times New Roman" pitchFamily="18" charset="0"/>
                <a:cs typeface="Times New Roman" pitchFamily="18" charset="0"/>
              </a:rPr>
              <a:t>) компьютера и компьютер перестает загружаться.</a:t>
            </a:r>
            <a:endParaRPr lang="ru-RU" sz="2400" dirty="0"/>
          </a:p>
          <a:p>
            <a:endParaRPr lang="ru-RU" dirty="0"/>
          </a:p>
        </p:txBody>
      </p:sp>
    </p:spTree>
    <p:extLst>
      <p:ext uri="{BB962C8B-B14F-4D97-AF65-F5344CB8AC3E}">
        <p14:creationId xmlns:p14="http://schemas.microsoft.com/office/powerpoint/2010/main" val="3560112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89686" y="329512"/>
            <a:ext cx="9753600" cy="5453449"/>
          </a:xfrm>
        </p:spPr>
        <p:txBody>
          <a:bodyPr/>
          <a:lstStyle/>
          <a:p>
            <a:pPr marL="0" indent="360363">
              <a:buNone/>
            </a:pPr>
            <a:r>
              <a:rPr lang="ru-RU" sz="2400" dirty="0">
                <a:latin typeface="Times New Roman" pitchFamily="18" charset="0"/>
                <a:cs typeface="Times New Roman" pitchFamily="18" charset="0"/>
              </a:rPr>
              <a:t>Кроме вирусов, такими же свойствами обладают троянские программы. Если вирус проникает в компьютер незаметно, то троянскую программу пользователь сам записывает на диск, полагая, что это полезная программа. Но при определенных условиях она может начать свою разрушительную работу.</a:t>
            </a:r>
          </a:p>
          <a:p>
            <a:pPr marL="0" indent="360363" algn="ctr">
              <a:buNone/>
            </a:pPr>
            <a:r>
              <a:rPr lang="ru-RU" sz="2400" b="1" i="1" dirty="0">
                <a:latin typeface="Times New Roman" pitchFamily="18" charset="0"/>
                <a:cs typeface="Times New Roman" pitchFamily="18" charset="0"/>
              </a:rPr>
              <a:t>Пути заражения компьютера вирусами:</a:t>
            </a:r>
          </a:p>
          <a:p>
            <a:pPr marL="449263" indent="-449263">
              <a:buFont typeface="+mj-lt"/>
              <a:buAutoNum type="arabicPeriod"/>
            </a:pPr>
            <a:r>
              <a:rPr lang="ru-RU" sz="2400" dirty="0">
                <a:latin typeface="Times New Roman" pitchFamily="18" charset="0"/>
                <a:cs typeface="Times New Roman" pitchFamily="18" charset="0"/>
              </a:rPr>
              <a:t>Через зараженные носители информации (диски, </a:t>
            </a:r>
            <a:r>
              <a:rPr lang="ru-RU" sz="2400" dirty="0" err="1">
                <a:latin typeface="Times New Roman" pitchFamily="18" charset="0"/>
                <a:cs typeface="Times New Roman" pitchFamily="18" charset="0"/>
              </a:rPr>
              <a:t>флеш</a:t>
            </a:r>
            <a:r>
              <a:rPr lang="ru-RU" sz="2400" dirty="0">
                <a:latin typeface="Times New Roman" pitchFamily="18" charset="0"/>
                <a:cs typeface="Times New Roman" pitchFamily="18" charset="0"/>
              </a:rPr>
              <a:t> – карты и т.п.);</a:t>
            </a:r>
          </a:p>
          <a:p>
            <a:pPr marL="449263" indent="-449263">
              <a:buFont typeface="+mj-lt"/>
              <a:buAutoNum type="arabicPeriod"/>
            </a:pPr>
            <a:r>
              <a:rPr lang="ru-RU" sz="2400" dirty="0">
                <a:latin typeface="Times New Roman" pitchFamily="18" charset="0"/>
                <a:cs typeface="Times New Roman" pitchFamily="18" charset="0"/>
              </a:rPr>
              <a:t>Через компьютерную сеть.</a:t>
            </a:r>
          </a:p>
          <a:p>
            <a:endParaRPr lang="ru-RU" dirty="0"/>
          </a:p>
        </p:txBody>
      </p:sp>
    </p:spTree>
    <p:extLst>
      <p:ext uri="{BB962C8B-B14F-4D97-AF65-F5344CB8AC3E}">
        <p14:creationId xmlns:p14="http://schemas.microsoft.com/office/powerpoint/2010/main" val="3566677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04207" y="238897"/>
            <a:ext cx="9692640" cy="1073484"/>
          </a:xfrm>
        </p:spPr>
        <p:txBody>
          <a:bodyPr>
            <a:normAutofit/>
          </a:bodyPr>
          <a:lstStyle/>
          <a:p>
            <a:r>
              <a:rPr lang="ru-RU" sz="3200" b="1" spc="50" dirty="0">
                <a:ln w="11430"/>
                <a:effectLst>
                  <a:outerShdw blurRad="76200" dist="50800" dir="5400000" algn="tl" rotWithShape="0">
                    <a:srgbClr val="000000">
                      <a:alpha val="65000"/>
                    </a:srgbClr>
                  </a:outerShdw>
                </a:effectLst>
              </a:rPr>
              <a:t>Признаки заражения </a:t>
            </a:r>
            <a:r>
              <a:rPr lang="ru-RU" sz="3200" b="1" spc="50" dirty="0" smtClean="0">
                <a:ln w="11430"/>
                <a:effectLst>
                  <a:outerShdw blurRad="76200" dist="50800" dir="5400000" algn="tl" rotWithShape="0">
                    <a:srgbClr val="000000">
                      <a:alpha val="65000"/>
                    </a:srgbClr>
                  </a:outerShdw>
                </a:effectLst>
              </a:rPr>
              <a:t>компьютера</a:t>
            </a:r>
            <a:endParaRPr lang="ru-RU" sz="3200" dirty="0"/>
          </a:p>
        </p:txBody>
      </p:sp>
      <p:sp>
        <p:nvSpPr>
          <p:cNvPr id="3" name="Объект 2"/>
          <p:cNvSpPr>
            <a:spLocks noGrp="1"/>
          </p:cNvSpPr>
          <p:nvPr>
            <p:ph idx="1"/>
          </p:nvPr>
        </p:nvSpPr>
        <p:spPr>
          <a:xfrm>
            <a:off x="1204207" y="1449859"/>
            <a:ext cx="8595360" cy="4763229"/>
          </a:xfrm>
        </p:spPr>
        <p:txBody>
          <a:bodyPr>
            <a:normAutofit fontScale="92500" lnSpcReduction="20000"/>
          </a:bodyPr>
          <a:lstStyle/>
          <a:p>
            <a:pPr marL="514350" lvl="0" indent="-514350">
              <a:spcBef>
                <a:spcPts val="1200"/>
              </a:spcBef>
              <a:buFont typeface="+mj-lt"/>
              <a:buAutoNum type="arabicPeriod"/>
            </a:pPr>
            <a:r>
              <a:rPr lang="ru-RU" sz="2600" dirty="0">
                <a:latin typeface="Times New Roman" pitchFamily="18" charset="0"/>
                <a:cs typeface="Times New Roman" pitchFamily="18" charset="0"/>
              </a:rPr>
              <a:t>Некоторые программы перестают работать или работают с ошибками;</a:t>
            </a:r>
          </a:p>
          <a:p>
            <a:pPr marL="514350" lvl="0" indent="-514350">
              <a:spcBef>
                <a:spcPts val="1200"/>
              </a:spcBef>
              <a:buFont typeface="+mj-lt"/>
              <a:buAutoNum type="arabicPeriod"/>
            </a:pPr>
            <a:r>
              <a:rPr lang="ru-RU" sz="2600" dirty="0">
                <a:latin typeface="Times New Roman" pitchFamily="18" charset="0"/>
                <a:cs typeface="Times New Roman" pitchFamily="18" charset="0"/>
              </a:rPr>
              <a:t>Размер некоторых исполнимых файлов и время их создания изменяются. В первую очередь это происходит с командным процессором, его размер увеличивается на величину размера вируса;</a:t>
            </a:r>
          </a:p>
          <a:p>
            <a:pPr marL="514350" lvl="0" indent="-514350">
              <a:spcBef>
                <a:spcPts val="1200"/>
              </a:spcBef>
              <a:buFont typeface="+mj-lt"/>
              <a:buAutoNum type="arabicPeriod"/>
            </a:pPr>
            <a:r>
              <a:rPr lang="ru-RU" sz="2600" dirty="0">
                <a:latin typeface="Times New Roman" pitchFamily="18" charset="0"/>
                <a:cs typeface="Times New Roman" pitchFamily="18" charset="0"/>
              </a:rPr>
              <a:t>На экран выводятся посторонние символы и сообщения, появляются странные видео и звуковые эффекты;</a:t>
            </a:r>
          </a:p>
          <a:p>
            <a:pPr marL="514350" lvl="0" indent="-514350">
              <a:spcBef>
                <a:spcPts val="1200"/>
              </a:spcBef>
              <a:buFont typeface="+mj-lt"/>
              <a:buAutoNum type="arabicPeriod"/>
            </a:pPr>
            <a:r>
              <a:rPr lang="ru-RU" sz="2600" dirty="0">
                <a:latin typeface="Times New Roman" pitchFamily="18" charset="0"/>
                <a:cs typeface="Times New Roman" pitchFamily="18" charset="0"/>
              </a:rPr>
              <a:t>Работа компьютера замедляется и уменьшается размер свободной оперативной памяти;</a:t>
            </a:r>
          </a:p>
          <a:p>
            <a:pPr marL="514350" lvl="0" indent="-514350">
              <a:spcBef>
                <a:spcPts val="1200"/>
              </a:spcBef>
              <a:buFont typeface="+mj-lt"/>
              <a:buAutoNum type="arabicPeriod"/>
            </a:pPr>
            <a:r>
              <a:rPr lang="ru-RU" sz="2600" dirty="0">
                <a:latin typeface="Times New Roman" pitchFamily="18" charset="0"/>
                <a:cs typeface="Times New Roman" pitchFamily="18" charset="0"/>
              </a:rPr>
              <a:t>Некоторые файлы и диски оказываются испорченными (иногда необратимо, если вирус отформатирует диск);</a:t>
            </a:r>
          </a:p>
          <a:p>
            <a:pPr marL="514350" lvl="0" indent="-514350">
              <a:spcBef>
                <a:spcPts val="1200"/>
              </a:spcBef>
              <a:buFont typeface="+mj-lt"/>
              <a:buAutoNum type="arabicPeriod"/>
            </a:pPr>
            <a:r>
              <a:rPr lang="ru-RU" sz="2600" dirty="0">
                <a:latin typeface="Times New Roman" pitchFamily="18" charset="0"/>
                <a:cs typeface="Times New Roman" pitchFamily="18" charset="0"/>
              </a:rPr>
              <a:t>Компьютер перестает загружаться с жесткого диска.</a:t>
            </a:r>
          </a:p>
          <a:p>
            <a:endParaRPr lang="ru-RU" dirty="0"/>
          </a:p>
        </p:txBody>
      </p:sp>
    </p:spTree>
    <p:extLst>
      <p:ext uri="{BB962C8B-B14F-4D97-AF65-F5344CB8AC3E}">
        <p14:creationId xmlns:p14="http://schemas.microsoft.com/office/powerpoint/2010/main" val="716942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1276" y="0"/>
            <a:ext cx="10633236" cy="864973"/>
          </a:xfrm>
        </p:spPr>
        <p:txBody>
          <a:bodyPr>
            <a:normAutofit/>
          </a:bodyPr>
          <a:lstStyle/>
          <a:p>
            <a:r>
              <a:rPr lang="ru-RU" sz="3200" b="1" dirty="0">
                <a:latin typeface="Times New Roman" pitchFamily="18" charset="0"/>
                <a:cs typeface="Times New Roman" pitchFamily="18" charset="0"/>
              </a:rPr>
              <a:t>Методы борьбы с компьютерными </a:t>
            </a:r>
            <a:r>
              <a:rPr lang="ru-RU" sz="3200" b="1" dirty="0" smtClean="0">
                <a:latin typeface="Times New Roman" pitchFamily="18" charset="0"/>
                <a:cs typeface="Times New Roman" pitchFamily="18" charset="0"/>
              </a:rPr>
              <a:t>вирусами</a:t>
            </a:r>
            <a:endParaRPr lang="ru-RU" sz="3200" dirty="0"/>
          </a:p>
        </p:txBody>
      </p:sp>
      <p:sp>
        <p:nvSpPr>
          <p:cNvPr id="3" name="Объект 2"/>
          <p:cNvSpPr>
            <a:spLocks noGrp="1"/>
          </p:cNvSpPr>
          <p:nvPr>
            <p:ph idx="1"/>
          </p:nvPr>
        </p:nvSpPr>
        <p:spPr>
          <a:xfrm>
            <a:off x="321276" y="864973"/>
            <a:ext cx="10633236" cy="5824151"/>
          </a:xfrm>
        </p:spPr>
        <p:txBody>
          <a:bodyPr>
            <a:normAutofit fontScale="92500" lnSpcReduction="20000"/>
          </a:bodyPr>
          <a:lstStyle/>
          <a:p>
            <a:pPr marL="514350" indent="-514350">
              <a:spcBef>
                <a:spcPts val="1200"/>
              </a:spcBef>
              <a:buFont typeface="+mj-lt"/>
              <a:buAutoNum type="arabicPeriod"/>
            </a:pPr>
            <a:r>
              <a:rPr lang="ru-RU" sz="2600" dirty="0">
                <a:latin typeface="Times New Roman" pitchFamily="18" charset="0"/>
                <a:cs typeface="Times New Roman" pitchFamily="18" charset="0"/>
              </a:rPr>
              <a:t>Резервное копирование всех программ, файлов и системных областей дисков на дискеты, чтобы можно было восстановить данные в случае вирусной атаки. Создание системной и аварийной дискеты.</a:t>
            </a:r>
          </a:p>
          <a:p>
            <a:pPr marL="514350" indent="-514350">
              <a:spcBef>
                <a:spcPts val="1200"/>
              </a:spcBef>
              <a:buFont typeface="+mj-lt"/>
              <a:buAutoNum type="arabicPeriod"/>
            </a:pPr>
            <a:r>
              <a:rPr lang="ru-RU" sz="2600" dirty="0">
                <a:latin typeface="Times New Roman" pitchFamily="18" charset="0"/>
                <a:cs typeface="Times New Roman" pitchFamily="18" charset="0"/>
              </a:rPr>
              <a:t>Ограничение доступа к машине путем введения пароля, администратора, закрытых дисков.</a:t>
            </a:r>
          </a:p>
          <a:p>
            <a:pPr marL="514350" indent="-514350">
              <a:spcBef>
                <a:spcPts val="1200"/>
              </a:spcBef>
              <a:buFont typeface="+mj-lt"/>
              <a:buAutoNum type="arabicPeriod"/>
            </a:pPr>
            <a:r>
              <a:rPr lang="ru-RU" sz="2600" dirty="0">
                <a:latin typeface="Times New Roman" pitchFamily="18" charset="0"/>
                <a:cs typeface="Times New Roman" pitchFamily="18" charset="0"/>
              </a:rPr>
              <a:t>Включение антивирусного протектора от загрузочных вирусов в CMOS </a:t>
            </a:r>
            <a:r>
              <a:rPr lang="ru-RU" sz="2600" dirty="0" err="1">
                <a:latin typeface="Times New Roman" pitchFamily="18" charset="0"/>
                <a:cs typeface="Times New Roman" pitchFamily="18" charset="0"/>
              </a:rPr>
              <a:t>Setup</a:t>
            </a:r>
            <a:r>
              <a:rPr lang="ru-RU" sz="2600" dirty="0">
                <a:latin typeface="Times New Roman" pitchFamily="18" charset="0"/>
                <a:cs typeface="Times New Roman" pitchFamily="18" charset="0"/>
              </a:rPr>
              <a:t> машины. Защита дискет от записи.</a:t>
            </a:r>
          </a:p>
          <a:p>
            <a:pPr marL="514350" indent="-514350">
              <a:spcBef>
                <a:spcPts val="1200"/>
              </a:spcBef>
              <a:buFont typeface="+mj-lt"/>
              <a:buAutoNum type="arabicPeriod"/>
            </a:pPr>
            <a:r>
              <a:rPr lang="ru-RU" sz="2600" dirty="0">
                <a:latin typeface="Times New Roman" pitchFamily="18" charset="0"/>
                <a:cs typeface="Times New Roman" pitchFamily="18" charset="0"/>
              </a:rPr>
              <a:t>Использование только лицензионного программного обеспечения, а не пиратских копий, в которых могут находиться вирусы.</a:t>
            </a:r>
          </a:p>
          <a:p>
            <a:pPr marL="514350" indent="-514350">
              <a:spcBef>
                <a:spcPts val="1200"/>
              </a:spcBef>
              <a:buFont typeface="+mj-lt"/>
              <a:buAutoNum type="arabicPeriod"/>
            </a:pPr>
            <a:r>
              <a:rPr lang="ru-RU" sz="2600" dirty="0">
                <a:latin typeface="Times New Roman" pitchFamily="18" charset="0"/>
                <a:cs typeface="Times New Roman" pitchFamily="18" charset="0"/>
              </a:rPr>
              <a:t>Проверка всей поступающей извне информации на вирусы, как на дискетах, CD-ROM, так и по сети.</a:t>
            </a:r>
          </a:p>
          <a:p>
            <a:pPr marL="514350" indent="-514350">
              <a:spcBef>
                <a:spcPts val="1200"/>
              </a:spcBef>
              <a:buFont typeface="+mj-lt"/>
              <a:buAutoNum type="arabicPeriod"/>
            </a:pPr>
            <a:r>
              <a:rPr lang="ru-RU" sz="2600" dirty="0">
                <a:latin typeface="Times New Roman" pitchFamily="18" charset="0"/>
                <a:cs typeface="Times New Roman" pitchFamily="18" charset="0"/>
              </a:rPr>
              <a:t>Применение антивирусных программ и обновление их версий.</a:t>
            </a:r>
          </a:p>
          <a:p>
            <a:pPr marL="514350" indent="-514350">
              <a:spcBef>
                <a:spcPts val="1200"/>
              </a:spcBef>
              <a:buFont typeface="+mj-lt"/>
              <a:buAutoNum type="arabicPeriod"/>
            </a:pPr>
            <a:r>
              <a:rPr lang="ru-RU" sz="2600" dirty="0">
                <a:latin typeface="Times New Roman" pitchFamily="18" charset="0"/>
                <a:cs typeface="Times New Roman" pitchFamily="18" charset="0"/>
              </a:rPr>
              <a:t>Подготовка ремонтного набора дисков (антивирусы и программы по обслуживанию дисков).</a:t>
            </a:r>
          </a:p>
          <a:p>
            <a:pPr marL="514350" indent="-514350">
              <a:spcBef>
                <a:spcPts val="1200"/>
              </a:spcBef>
              <a:buFont typeface="+mj-lt"/>
              <a:buAutoNum type="arabicPeriod"/>
            </a:pPr>
            <a:r>
              <a:rPr lang="ru-RU" sz="2600" dirty="0">
                <a:latin typeface="Times New Roman" pitchFamily="18" charset="0"/>
                <a:cs typeface="Times New Roman" pitchFamily="18" charset="0"/>
              </a:rPr>
              <a:t>Периодическая проверка компьютера на наличие вирусов при помощи антивирусных программ. </a:t>
            </a:r>
          </a:p>
          <a:p>
            <a:endParaRPr lang="ru-RU" dirty="0"/>
          </a:p>
        </p:txBody>
      </p:sp>
    </p:spTree>
    <p:extLst>
      <p:ext uri="{BB962C8B-B14F-4D97-AF65-F5344CB8AC3E}">
        <p14:creationId xmlns:p14="http://schemas.microsoft.com/office/powerpoint/2010/main" val="246538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 y="354227"/>
            <a:ext cx="10954512" cy="1037968"/>
          </a:xfrm>
        </p:spPr>
        <p:txBody>
          <a:bodyPr>
            <a:noAutofit/>
          </a:bodyPr>
          <a:lstStyle/>
          <a:p>
            <a:r>
              <a:rPr lang="ru-RU" sz="3200" b="1" dirty="0">
                <a:latin typeface="Times New Roman" pitchFamily="18" charset="0"/>
                <a:cs typeface="Times New Roman" pitchFamily="18" charset="0"/>
              </a:rPr>
              <a:t>Существует много программных средств антивирусной защиты. Они предоставляют следующие возможности</a:t>
            </a:r>
            <a:endParaRPr lang="ru-RU" sz="3200" dirty="0"/>
          </a:p>
        </p:txBody>
      </p:sp>
      <p:sp>
        <p:nvSpPr>
          <p:cNvPr id="3" name="Объект 2"/>
          <p:cNvSpPr>
            <a:spLocks noGrp="1"/>
          </p:cNvSpPr>
          <p:nvPr>
            <p:ph idx="1"/>
          </p:nvPr>
        </p:nvSpPr>
        <p:spPr>
          <a:xfrm>
            <a:off x="0" y="1392195"/>
            <a:ext cx="7504670" cy="5465805"/>
          </a:xfrm>
        </p:spPr>
        <p:txBody>
          <a:bodyPr>
            <a:normAutofit fontScale="92500" lnSpcReduction="10000"/>
          </a:bodyPr>
          <a:lstStyle/>
          <a:p>
            <a:pPr marL="514350" lvl="0" indent="-514350">
              <a:spcBef>
                <a:spcPts val="1200"/>
              </a:spcBef>
              <a:buFont typeface="+mj-lt"/>
              <a:buAutoNum type="arabicPeriod"/>
            </a:pPr>
            <a:r>
              <a:rPr lang="ru-RU" dirty="0">
                <a:latin typeface="Times New Roman" pitchFamily="18" charset="0"/>
                <a:cs typeface="Times New Roman" pitchFamily="18" charset="0"/>
              </a:rPr>
              <a:t>Создание образа жесткого диска на внешних носителях. </a:t>
            </a:r>
            <a:br>
              <a:rPr lang="ru-RU" dirty="0">
                <a:latin typeface="Times New Roman" pitchFamily="18" charset="0"/>
                <a:cs typeface="Times New Roman" pitchFamily="18" charset="0"/>
              </a:rPr>
            </a:br>
            <a:r>
              <a:rPr lang="ru-RU" dirty="0">
                <a:latin typeface="Times New Roman" pitchFamily="18" charset="0"/>
                <a:cs typeface="Times New Roman" pitchFamily="18" charset="0"/>
              </a:rPr>
              <a:t>В случае выхода из строя данных в системных областях жесткого диска сохраненный образ диска может позволить восстановить если не все данные, то, по крайней мере, их большую часть. Это же средство может защитить от утраты данных при аппаратных сбоях и при неаккуратном форматировании жесткого диска.</a:t>
            </a:r>
          </a:p>
          <a:p>
            <a:pPr marL="514350" lvl="0" indent="-514350">
              <a:spcBef>
                <a:spcPts val="1200"/>
              </a:spcBef>
              <a:buFont typeface="+mj-lt"/>
              <a:buAutoNum type="arabicPeriod"/>
            </a:pPr>
            <a:r>
              <a:rPr lang="ru-RU" dirty="0">
                <a:latin typeface="Times New Roman" pitchFamily="18" charset="0"/>
                <a:cs typeface="Times New Roman" pitchFamily="18" charset="0"/>
              </a:rPr>
              <a:t>Регулярное сканирование жестких дисков в поисках компьютерных вирусов. Обычно выполняется автоматически при каждом включении компьютера и при размещении внешнего диска в считывающем устройстве. Антивирусная программа ищет вирус путем сравнения кода программы с кодами известных вирусов, хранящихся в базе данных. Для надежной работы надо регулярно обновлять базу данных.</a:t>
            </a:r>
          </a:p>
          <a:p>
            <a:pPr marL="514350" lvl="0" indent="-514350">
              <a:spcBef>
                <a:spcPts val="1200"/>
              </a:spcBef>
              <a:buFont typeface="+mj-lt"/>
              <a:buAutoNum type="arabicPeriod"/>
            </a:pPr>
            <a:r>
              <a:rPr lang="ru-RU" dirty="0">
                <a:latin typeface="Times New Roman" pitchFamily="18" charset="0"/>
                <a:cs typeface="Times New Roman" pitchFamily="18" charset="0"/>
              </a:rPr>
              <a:t>Контроль за изменением размеров и других атрибутов файла. Поскольку некоторые компьютерные вирусы на этапе размножения изменяют параметры зараженных файлов, контролирующая программа может обнаружить их деятельность и предупредить пользователя.</a:t>
            </a:r>
          </a:p>
          <a:p>
            <a:pPr marL="514350" lvl="0" indent="-514350">
              <a:spcBef>
                <a:spcPts val="1200"/>
              </a:spcBef>
              <a:buFont typeface="+mj-lt"/>
              <a:buAutoNum type="arabicPeriod"/>
            </a:pPr>
            <a:r>
              <a:rPr lang="ru-RU" dirty="0">
                <a:latin typeface="Times New Roman" pitchFamily="18" charset="0"/>
                <a:cs typeface="Times New Roman" pitchFamily="18" charset="0"/>
              </a:rPr>
              <a:t>Контроль за обращениями к жесткому диску. Поскольку наиболее опасные операции, связанные с работой компьютерных вирусов, обращены на модификацию данных, записанных на жестком диске, антивирусная программа может контролировать обращения к нему и предупреждать пользователя о подозрительной активности.</a:t>
            </a:r>
          </a:p>
          <a:p>
            <a:endParaRPr lang="ru-RU" dirty="0"/>
          </a:p>
        </p:txBody>
      </p:sp>
      <p:pic>
        <p:nvPicPr>
          <p:cNvPr id="1026" name="Picture 2" descr="Опубликован свежий рейтинг лучших антивирусов для Windows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4670" y="1392195"/>
            <a:ext cx="3782150" cy="2405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4746816"/>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
  <TotalTime>11</TotalTime>
  <Words>459</Words>
  <Application>Microsoft Office PowerPoint</Application>
  <PresentationFormat>Широкоэкранный</PresentationFormat>
  <Paragraphs>42</Paragraphs>
  <Slides>8</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8</vt:i4>
      </vt:variant>
    </vt:vector>
  </HeadingPairs>
  <TitlesOfParts>
    <vt:vector size="13" baseType="lpstr">
      <vt:lpstr>Arial</vt:lpstr>
      <vt:lpstr>Century Schoolbook</vt:lpstr>
      <vt:lpstr>Times New Roman</vt:lpstr>
      <vt:lpstr>Wingdings 2</vt:lpstr>
      <vt:lpstr>View</vt:lpstr>
      <vt:lpstr>Компьютерные вирусы: методы защиты </vt:lpstr>
      <vt:lpstr>Что такое компьютерный вирус</vt:lpstr>
      <vt:lpstr>Компьютерные вирусы бывают следующих типов</vt:lpstr>
      <vt:lpstr>Основная информация</vt:lpstr>
      <vt:lpstr>Презентация PowerPoint</vt:lpstr>
      <vt:lpstr>Признаки заражения компьютера</vt:lpstr>
      <vt:lpstr>Методы борьбы с компьютерными вирусами</vt:lpstr>
      <vt:lpstr>Существует много программных средств антивирусной защиты. Они предоставляют следующие возможности</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Компьютерные вирусы: методы защиты</dc:title>
  <dc:creator>Учетная запись Майкрософт</dc:creator>
  <cp:lastModifiedBy>Учетная запись Майкрософт</cp:lastModifiedBy>
  <cp:revision>2</cp:revision>
  <dcterms:created xsi:type="dcterms:W3CDTF">2022-12-21T20:06:21Z</dcterms:created>
  <dcterms:modified xsi:type="dcterms:W3CDTF">2022-12-21T20:17:42Z</dcterms:modified>
</cp:coreProperties>
</file>